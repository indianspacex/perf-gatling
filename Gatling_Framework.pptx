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CD4">
              <a:alpha val="8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FF6B35">
              <a:alpha val="8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GATLING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BCD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FRAMEWORK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200400" y="3337560"/>
            <a:ext cx="2743200" cy="27432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7" name="Text 5"/>
          <p:cNvSpPr/>
          <p:nvPr/>
        </p:nvSpPr>
        <p:spPr>
          <a:xfrm>
            <a:off x="914400" y="352044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&amp; API Performance Testing 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Framework, Reporting &amp; Dashboards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47A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FRAMEWORK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4114800" cy="137160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6" name="Text 4"/>
          <p:cNvSpPr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7A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⚡ Key Capabilities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828800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Web Testing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05740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HTTP/HTTPS, browser simulation, session management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45059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2450592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API Testing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679192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REST, SOAP, GraphQL with JSON/XML validation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07238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072384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High-Volume Load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300984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thousands of concurrent virtual users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694176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3694176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Real-Time Analytics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922776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monitoring and comprehensive reporting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914400"/>
            <a:ext cx="3840480" cy="3657600"/>
          </a:xfrm>
          <a:prstGeom prst="rect">
            <a:avLst/>
          </a:prstGeom>
          <a:solidFill>
            <a:srgbClr val="0A1929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05156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💻 Test Execution Output</a:t>
            </a:r>
            <a:endParaRPr lang="en-US" sz="14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937760" y="1463040"/>
            <a:ext cx="36576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47A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0" y="2011680"/>
            <a:ext cx="1828800" cy="1828800"/>
          </a:xfrm>
          <a:prstGeom prst="ellipse">
            <a:avLst/>
          </a:prstGeom>
          <a:solidFill>
            <a:srgbClr val="0D47A1"/>
          </a:solidFill>
        </p:spPr>
      </p:sp>
      <p:sp>
        <p:nvSpPr>
          <p:cNvPr id="5" name="Text 3"/>
          <p:cNvSpPr/>
          <p:nvPr/>
        </p:nvSpPr>
        <p:spPr>
          <a:xfrm>
            <a:off x="3657600" y="260604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GATLING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BC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3657600" cy="109728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8" name="Shape 6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00BCD4">
              <a:alpha val="8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1430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C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simulations/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1463040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test simulations with Scala/Java classes defining complete load scenarios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91440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914400"/>
            <a:ext cx="3657600" cy="109728"/>
          </a:xfrm>
          <a:prstGeom prst="rect">
            <a:avLst/>
          </a:prstGeom>
          <a:solidFill>
            <a:srgbClr val="1976D2"/>
          </a:solidFill>
        </p:spPr>
      </p:sp>
      <p:sp>
        <p:nvSpPr>
          <p:cNvPr id="14" name="Shape 12"/>
          <p:cNvSpPr/>
          <p:nvPr/>
        </p:nvSpPr>
        <p:spPr>
          <a:xfrm>
            <a:off x="5212080" y="1188720"/>
            <a:ext cx="457200" cy="457200"/>
          </a:xfrm>
          <a:prstGeom prst="ellipse">
            <a:avLst/>
          </a:prstGeom>
          <a:solidFill>
            <a:srgbClr val="1976D2">
              <a:alpha val="8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5212080" y="11887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806440" y="11430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76D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scenarios/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06440" y="1463040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Reusable scenario definitions with user journeys and behavior patterns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74720"/>
            <a:ext cx="3657600" cy="109728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20" name="Shape 18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FF6B35">
              <a:alpha val="8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7033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config/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023360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Configuration files: gatling.conf, logback.xml, environment settings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347472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3474720"/>
            <a:ext cx="3657600" cy="109728"/>
          </a:xfrm>
          <a:prstGeom prst="rect">
            <a:avLst/>
          </a:prstGeom>
          <a:solidFill>
            <a:srgbClr val="9C27B0"/>
          </a:solidFill>
        </p:spPr>
      </p:sp>
      <p:sp>
        <p:nvSpPr>
          <p:cNvPr id="26" name="Shape 24"/>
          <p:cNvSpPr/>
          <p:nvPr/>
        </p:nvSpPr>
        <p:spPr>
          <a:xfrm>
            <a:off x="5212080" y="3749040"/>
            <a:ext cx="457200" cy="457200"/>
          </a:xfrm>
          <a:prstGeom prst="ellipse">
            <a:avLst/>
          </a:prstGeom>
          <a:solidFill>
            <a:srgbClr val="9C27B0">
              <a:alpha val="80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5212080" y="37490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806440" y="37033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27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requests/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806440" y="4023360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 request builders, headers, payloads, API endpoint configs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929">
              <a:alpha val="9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BUILT-IN HTML REPORTS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40690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BCD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868680"/>
            <a:ext cx="85039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47A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REPORTING &amp; EXPORT CAPABILITIES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43000"/>
            <a:ext cx="548640" cy="548640"/>
          </a:xfrm>
          <a:prstGeom prst="ellipse">
            <a:avLst/>
          </a:prstGeom>
          <a:solidFill>
            <a:srgbClr val="00BCD4">
              <a:alpha val="85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731520" y="11430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1188720"/>
            <a:ext cx="1600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Global Statistics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2377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overview of requests, response times, and success rates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9144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1143000"/>
            <a:ext cx="548640" cy="548640"/>
          </a:xfrm>
          <a:prstGeom prst="ellipse">
            <a:avLst/>
          </a:prstGeom>
          <a:solidFill>
            <a:srgbClr val="1976D2">
              <a:alpha val="85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3611880" y="11430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297680" y="1188720"/>
            <a:ext cx="1600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Request Details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1783080"/>
            <a:ext cx="2377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Individual metrics with percentile distribution analysis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9144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1143000"/>
            <a:ext cx="548640" cy="548640"/>
          </a:xfrm>
          <a:prstGeom prst="ellipse">
            <a:avLst/>
          </a:prstGeom>
          <a:solidFill>
            <a:srgbClr val="00BCD4">
              <a:alpha val="85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6492240" y="11430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178040" y="1188720"/>
            <a:ext cx="1600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Active Users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1783080"/>
            <a:ext cx="2377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Concurrent user simulation tracking over 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2971800"/>
            <a:ext cx="548640" cy="548640"/>
          </a:xfrm>
          <a:prstGeom prst="ellipse">
            <a:avLst/>
          </a:prstGeom>
          <a:solidFill>
            <a:srgbClr val="FF6B35">
              <a:alpha val="85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731520" y="29718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17320" y="3017520"/>
            <a:ext cx="1600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Percentile Graphs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611880"/>
            <a:ext cx="2377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P50, P75, P95, P99 response time visualization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27432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11880" y="2971800"/>
            <a:ext cx="548640" cy="548640"/>
          </a:xfrm>
          <a:prstGeom prst="ellipse">
            <a:avLst/>
          </a:prstGeom>
          <a:solidFill>
            <a:srgbClr val="9C27B0">
              <a:alpha val="85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3611880" y="29718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297680" y="3017520"/>
            <a:ext cx="1600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27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JSON Export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20440" y="3611880"/>
            <a:ext cx="2377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data output for CI/CD integration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7432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2971800"/>
            <a:ext cx="548640" cy="548640"/>
          </a:xfrm>
          <a:prstGeom prst="ellipse">
            <a:avLst/>
          </a:prstGeom>
          <a:solidFill>
            <a:srgbClr val="4CAF50">
              <a:alpha val="85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6492240" y="29718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178040" y="3017520"/>
            <a:ext cx="1600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InfluxDB Stream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3611880"/>
            <a:ext cx="2377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metrics for live dashboard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47A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DOCKER DASHBOARD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286000" cy="1188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GATLING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Execution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1508760"/>
            <a:ext cx="731520" cy="0"/>
          </a:xfrm>
          <a:prstGeom prst="line">
            <a:avLst/>
          </a:prstGeom>
          <a:noFill/>
          <a:ln w="38100">
            <a:solidFill>
              <a:srgbClr val="0D47A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00400" y="914400"/>
            <a:ext cx="2286000" cy="11887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0515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155448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INFLUXDB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1874520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Time-Series DB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1508760"/>
            <a:ext cx="731520" cy="0"/>
          </a:xfrm>
          <a:prstGeom prst="line">
            <a:avLst/>
          </a:prstGeom>
          <a:noFill/>
          <a:ln w="38100">
            <a:solidFill>
              <a:srgbClr val="0D47A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43600" y="914400"/>
            <a:ext cx="2286000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0515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26480" y="155448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GRAFANA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26480" y="1874520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82296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47A1"/>
            </a:solidFill>
            <a:prstDash val="solid"/>
          </a:ln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02920" y="2331720"/>
            <a:ext cx="8138160" cy="13716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Setup Process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640" y="4251960"/>
            <a:ext cx="137160" cy="137160"/>
          </a:xfrm>
          <a:prstGeom prst="ellipse">
            <a:avLst/>
          </a:prstGeom>
          <a:solidFill>
            <a:srgbClr val="00BCD4"/>
          </a:solidFill>
        </p:spPr>
      </p:sp>
      <p:sp>
        <p:nvSpPr>
          <p:cNvPr id="22" name="Text 19"/>
          <p:cNvSpPr/>
          <p:nvPr/>
        </p:nvSpPr>
        <p:spPr>
          <a:xfrm>
            <a:off x="777240" y="4242816"/>
            <a:ext cx="786384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Configure InfluxDB in gatling.conf (database, retention, connection)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" y="4407408"/>
            <a:ext cx="137160" cy="137160"/>
          </a:xfrm>
          <a:prstGeom prst="ellipse">
            <a:avLst/>
          </a:prstGeom>
          <a:solidFill>
            <a:srgbClr val="00BCD4"/>
          </a:solidFill>
        </p:spPr>
      </p:sp>
      <p:sp>
        <p:nvSpPr>
          <p:cNvPr id="24" name="Text 21"/>
          <p:cNvSpPr/>
          <p:nvPr/>
        </p:nvSpPr>
        <p:spPr>
          <a:xfrm>
            <a:off x="777240" y="4398264"/>
            <a:ext cx="786384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 docker-compose.yml (InfluxDB:2003, Grafana:3000)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" y="4562856"/>
            <a:ext cx="137160" cy="137160"/>
          </a:xfrm>
          <a:prstGeom prst="ellipse">
            <a:avLst/>
          </a:prstGeom>
          <a:solidFill>
            <a:srgbClr val="00BCD4"/>
          </a:solidFill>
        </p:spPr>
      </p:sp>
      <p:sp>
        <p:nvSpPr>
          <p:cNvPr id="26" name="Text 23"/>
          <p:cNvSpPr/>
          <p:nvPr/>
        </p:nvSpPr>
        <p:spPr>
          <a:xfrm>
            <a:off x="777240" y="4553712"/>
            <a:ext cx="786384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Execute tests with real-time streaming to InfluxDB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8640" y="4718304"/>
            <a:ext cx="137160" cy="137160"/>
          </a:xfrm>
          <a:prstGeom prst="ellipse">
            <a:avLst/>
          </a:prstGeom>
          <a:solidFill>
            <a:srgbClr val="00BCD4"/>
          </a:solidFill>
        </p:spPr>
      </p:sp>
      <p:sp>
        <p:nvSpPr>
          <p:cNvPr id="28" name="Text 25"/>
          <p:cNvSpPr/>
          <p:nvPr/>
        </p:nvSpPr>
        <p:spPr>
          <a:xfrm>
            <a:off x="777240" y="4709160"/>
            <a:ext cx="786384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Configure Grafana datasource and import templates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CD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GRAFANA DASHBOARD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2880" y="685800"/>
            <a:ext cx="877824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47A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PERFORMANCE METRICS GUIDE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109728" cy="1143000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6" name="Text 4"/>
          <p:cNvSpPr/>
          <p:nvPr/>
        </p:nvSpPr>
        <p:spPr>
          <a:xfrm>
            <a:off x="685800" y="10515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1051560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99th Percentile (p99)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298448"/>
            <a:ext cx="3200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429ms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572768"/>
            <a:ext cx="3749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99% of requests complete within this time. Critical SLA metric for performance compliance.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9144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914400"/>
            <a:ext cx="109728" cy="1143000"/>
          </a:xfrm>
          <a:prstGeom prst="rect">
            <a:avLst/>
          </a:prstGeom>
          <a:solidFill>
            <a:srgbClr val="1976D2"/>
          </a:solidFill>
        </p:spPr>
      </p:sp>
      <p:sp>
        <p:nvSpPr>
          <p:cNvPr id="12" name="Text 10"/>
          <p:cNvSpPr/>
          <p:nvPr/>
        </p:nvSpPr>
        <p:spPr>
          <a:xfrm>
            <a:off x="5074920" y="10515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623560" y="1051560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Response Time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23560" y="1298448"/>
            <a:ext cx="3200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 253 | MEAN 314 | MAX 429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74920" y="1572768"/>
            <a:ext cx="3749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request-response cycle including network, processing, and transfer time.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286000"/>
            <a:ext cx="109728" cy="1143000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18" name="Text 16"/>
          <p:cNvSpPr/>
          <p:nvPr/>
        </p:nvSpPr>
        <p:spPr>
          <a:xfrm>
            <a:off x="685800" y="24231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234440" y="2423160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Active Users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2670048"/>
            <a:ext cx="3200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Peak: 20 concurrent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2944368"/>
            <a:ext cx="3749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Virtual user simulation showing load intensity and ramp-up patterns over time.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2860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286000"/>
            <a:ext cx="109728" cy="114300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24" name="Text 22"/>
          <p:cNvSpPr/>
          <p:nvPr/>
        </p:nvSpPr>
        <p:spPr>
          <a:xfrm>
            <a:off x="5074920" y="24231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623560" y="2423160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Total TPS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23560" y="2670048"/>
            <a:ext cx="3200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Throughput Capacity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4920" y="2944368"/>
            <a:ext cx="3749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Transactions Per Second showing system capacity and request/response rate metrics.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657600"/>
            <a:ext cx="109728" cy="1143000"/>
          </a:xfrm>
          <a:prstGeom prst="rect">
            <a:avLst/>
          </a:prstGeom>
          <a:solidFill>
            <a:srgbClr val="9C27B0"/>
          </a:solidFill>
        </p:spPr>
      </p:sp>
      <p:sp>
        <p:nvSpPr>
          <p:cNvPr id="30" name="Text 28"/>
          <p:cNvSpPr/>
          <p:nvPr/>
        </p:nvSpPr>
        <p:spPr>
          <a:xfrm>
            <a:off x="685800" y="37947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1234440" y="3794760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27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Percentile Distribution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34440" y="4041648"/>
            <a:ext cx="3200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P50 | P75 | P95 | P99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800" y="4315968"/>
            <a:ext cx="3749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 times visualized over time showing performance consistency and outliers.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6576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3657600"/>
            <a:ext cx="109728" cy="1143000"/>
          </a:xfrm>
          <a:prstGeom prst="rect">
            <a:avLst/>
          </a:prstGeom>
          <a:solidFill>
            <a:srgbClr val="E91E63"/>
          </a:solidFill>
        </p:spPr>
      </p:sp>
      <p:sp>
        <p:nvSpPr>
          <p:cNvPr id="36" name="Text 34"/>
          <p:cNvSpPr/>
          <p:nvPr/>
        </p:nvSpPr>
        <p:spPr>
          <a:xfrm>
            <a:off x="5074920" y="37947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623560" y="3794760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1E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Bottleneck Analysis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623560" y="4041648"/>
            <a:ext cx="3200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Constraints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74920" y="4315968"/>
            <a:ext cx="3749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Identifies slowest requests, saturation points, error spikes, and queue buildup.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2277</Words>
  <Application>WPS Presentation</Application>
  <PresentationFormat>On-screen Show (16:9)</PresentationFormat>
  <Paragraphs>189</Paragraphs>
  <Slides>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5" baseType="lpstr">
      <vt:lpstr>Arial</vt:lpstr>
      <vt:lpstr>SimSun</vt:lpstr>
      <vt:lpstr>Wingdings</vt:lpstr>
      <vt:lpstr>Arial Black</vt:lpstr>
      <vt:lpstr>Arial Black</vt:lpstr>
      <vt:lpstr>Arial Black</vt:lpstr>
      <vt:lpstr>Calibri</vt:lpstr>
      <vt:lpstr>Calibri</vt:lpstr>
      <vt:lpstr>Calibri</vt:lpstr>
      <vt:lpstr>Arial</vt:lpstr>
      <vt:lpstr>Arial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Gatling Framework - Complete Guide</dc:title>
  <dc:creator>Gatling Performance Testing</dc:creator>
  <dc:subject>PptxGenJS Presentation</dc:subject>
  <cp:lastModifiedBy>admin</cp:lastModifiedBy>
  <cp:revision>3</cp:revision>
  <dcterms:created xsi:type="dcterms:W3CDTF">2026-01-30T11:07:00Z</dcterms:created>
  <dcterms:modified xsi:type="dcterms:W3CDTF">2026-01-30T11:13:33Z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D1517C4BFE6B4F5A8B32BBBEDDC1D5A5_13</vt:lpwstr>
  </property>
  <property fmtid="{D5CDD505-2E9C-101B-9397-08002B2CF9AE}" pid="3" name="KSOProductBuildVer">
    <vt:lpwstr>1033-12.2.0.23196</vt:lpwstr>
  </property>
</Properties>
</file>